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9" d="100"/>
          <a:sy n="119" d="100"/>
        </p:scale>
        <p:origin x="23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91695" cy="54864"/>
          </a:xfrm>
          <a:prstGeom prst="rect">
            <a:avLst/>
          </a:prstGeom>
          <a:solidFill>
            <a:srgbClr val="009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9260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校园WiFi体验保障</a:t>
            </a:r>
            <a:br/>
            <a:r>
              <a:t>与LLM运维助手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50720" y="4206240"/>
            <a:ext cx="555152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BBBBBB"/>
                </a:solidFill>
              </a:defRPr>
            </a:pPr>
            <a:r>
              <a:rPr dirty="0" err="1"/>
              <a:t>参考</a:t>
            </a:r>
            <a:r>
              <a:rPr dirty="0"/>
              <a:t> Juniper Mist AI / Marvis AI · </a:t>
            </a:r>
            <a:r>
              <a:rPr dirty="0" err="1"/>
              <a:t>基于</a:t>
            </a:r>
            <a:r>
              <a:rPr dirty="0"/>
              <a:t> </a:t>
            </a:r>
            <a:r>
              <a:rPr dirty="0" err="1"/>
              <a:t>UJIIndoorLoc</a:t>
            </a:r>
            <a:r>
              <a:rPr dirty="0"/>
              <a:t> · FDE 场景4</a:t>
            </a:r>
            <a:endParaRPr lang="en-US" altLang="zh-CN" dirty="0"/>
          </a:p>
          <a:p>
            <a:pPr algn="ctr">
              <a:defRPr sz="1600">
                <a:solidFill>
                  <a:srgbClr val="BBBBBB"/>
                </a:solidFill>
              </a:defRPr>
            </a:pPr>
            <a:r>
              <a:rPr lang="zh-CN" altLang="en-US" dirty="0"/>
              <a:t>徐晟翔     </a:t>
            </a:r>
            <a:r>
              <a:rPr lang="en-US" altLang="zh-CN"/>
              <a:t>2024104009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B2545"/>
                </a:solidFill>
              </a:defRPr>
            </a:pPr>
            <a:r>
              <a:t>1. Juniper Mist / Marvis AI 方案抽象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55555"/>
                </a:solidFill>
              </a:defRPr>
            </a:pPr>
            <a:r>
              <a:t>HPE Juniper Networking 的 AI-Native 无线网络智能运维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0B2545"/>
                </a:solidFill>
              </a:defRPr>
            </a:pPr>
            <a:r>
              <a:t>• 公司定位: AI-Native Networking，面向企业园区、校园、医院等高密WiFi场景</a:t>
            </a:r>
          </a:p>
          <a:p>
            <a:pPr>
              <a:spcAft>
                <a:spcPts val="800"/>
              </a:spcAft>
              <a:defRPr sz="1500">
                <a:solidFill>
                  <a:srgbClr val="0B2545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500">
                <a:solidFill>
                  <a:srgbClr val="0B2545"/>
                </a:solidFill>
              </a:defRPr>
            </a:pPr>
            <a:r>
              <a:t>• 核心能力:</a:t>
            </a:r>
          </a:p>
          <a:p>
            <a:pPr>
              <a:spcAft>
                <a:spcPts val="800"/>
              </a:spcAft>
              <a:defRPr sz="1500">
                <a:solidFill>
                  <a:srgbClr val="0B2545"/>
                </a:solidFill>
              </a:defRPr>
            </a:pPr>
            <a:r>
              <a:t>  - 持续识别弱覆盖、漫游异常、认证失败、容量拥塞</a:t>
            </a:r>
          </a:p>
          <a:p>
            <a:pPr>
              <a:spcAft>
                <a:spcPts val="800"/>
              </a:spcAft>
              <a:defRPr sz="1500">
                <a:solidFill>
                  <a:srgbClr val="0B2545"/>
                </a:solidFill>
              </a:defRPr>
            </a:pPr>
            <a:r>
              <a:t>  - 自然语言问答 (Marvis AI Virtual Network Assistant)</a:t>
            </a:r>
          </a:p>
          <a:p>
            <a:pPr>
              <a:spcAft>
                <a:spcPts val="800"/>
              </a:spcAft>
              <a:defRPr sz="1500">
                <a:solidFill>
                  <a:srgbClr val="0B2545"/>
                </a:solidFill>
              </a:defRPr>
            </a:pPr>
            <a:r>
              <a:t>  - 自动化根因分析和修复建议</a:t>
            </a:r>
          </a:p>
          <a:p>
            <a:pPr>
              <a:spcAft>
                <a:spcPts val="800"/>
              </a:spcAft>
              <a:defRPr sz="1500">
                <a:solidFill>
                  <a:srgbClr val="0B2545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500">
                <a:solidFill>
                  <a:srgbClr val="0B2545"/>
                </a:solidFill>
              </a:defRPr>
            </a:pPr>
            <a:r>
              <a:t>• 可抽象的系统能力:</a:t>
            </a:r>
          </a:p>
          <a:p>
            <a:pPr>
              <a:spcAft>
                <a:spcPts val="800"/>
              </a:spcAft>
              <a:defRPr sz="1500">
                <a:solidFill>
                  <a:srgbClr val="0B2545"/>
                </a:solidFill>
              </a:defRPr>
            </a:pPr>
            <a:r>
              <a:t>  - RSSI/连接质量 → 弱覆盖检测 → 楼层热力图 → LLM 排障助手</a:t>
            </a:r>
          </a:p>
          <a:p>
            <a:pPr>
              <a:spcAft>
                <a:spcPts val="800"/>
              </a:spcAft>
              <a:defRPr sz="1500">
                <a:solidFill>
                  <a:srgbClr val="0B2545"/>
                </a:solidFill>
              </a:defRPr>
            </a:pPr>
            <a:r>
              <a:t>  - 把终端体验、AP指标、事件日志转化为可诊断的网络体验闭环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B2545"/>
                </a:solidFill>
              </a:defRPr>
            </a:pPr>
            <a:r>
              <a:t>2. 校园WiFi体验保障问题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55555"/>
                </a:solidFill>
              </a:defRPr>
            </a:pPr>
            <a:r>
              <a:t>用户角色、异常类型和业务价值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2560320" cy="1280160"/>
          </a:xfrm>
          <a:prstGeom prst="round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B2545"/>
                </a:solidFill>
              </a:defRPr>
            </a:pPr>
            <a:r>
              <a:t>👨‍💻 网络中心老师</a:t>
            </a:r>
          </a:p>
          <a:p>
            <a:pPr algn="ctr">
              <a:defRPr sz="1100">
                <a:solidFill>
                  <a:srgbClr val="555555"/>
                </a:solidFill>
              </a:defRPr>
            </a:pPr>
            <a:r>
              <a:t>全局覆盖监控</a:t>
            </a:r>
            <a:br/>
            <a:r>
              <a:t>弱覆盖告警处理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737360"/>
            <a:ext cx="2560320" cy="1280160"/>
          </a:xfrm>
          <a:prstGeom prst="round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B2545"/>
                </a:solidFill>
              </a:defRPr>
            </a:pPr>
            <a:r>
              <a:t>🔧 现场运维人员</a:t>
            </a:r>
          </a:p>
          <a:p>
            <a:pPr algn="ctr">
              <a:defRPr sz="1100">
                <a:solidFill>
                  <a:srgbClr val="555555"/>
                </a:solidFill>
              </a:defRPr>
            </a:pPr>
            <a:r>
              <a:t>AP故障定位</a:t>
            </a:r>
            <a:br/>
            <a:r>
              <a:t>现场排查指引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737360"/>
            <a:ext cx="2560320" cy="1280160"/>
          </a:xfrm>
          <a:prstGeom prst="round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B2545"/>
                </a:solidFill>
              </a:defRPr>
            </a:pPr>
            <a:r>
              <a:t>👩‍🎓 学生用户</a:t>
            </a:r>
          </a:p>
          <a:p>
            <a:pPr algn="ctr">
              <a:defRPr sz="1100">
                <a:solidFill>
                  <a:srgbClr val="555555"/>
                </a:solidFill>
              </a:defRPr>
            </a:pPr>
            <a:r>
              <a:t>信号质量查看</a:t>
            </a:r>
            <a:br/>
            <a:r>
              <a:t>卡顿原因反馈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35440" y="1737360"/>
            <a:ext cx="2560320" cy="1280160"/>
          </a:xfrm>
          <a:prstGeom prst="roundRect">
            <a:avLst/>
          </a:prstGeom>
          <a:solidFill>
            <a:srgbClr val="E8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0B2545"/>
                </a:solidFill>
              </a:defRPr>
            </a:pPr>
            <a:r>
              <a:t>🏢 楼宇管理员</a:t>
            </a:r>
          </a:p>
          <a:p>
            <a:pPr algn="ctr">
              <a:defRPr sz="1100">
                <a:solidFill>
                  <a:srgbClr val="555555"/>
                </a:solidFill>
              </a:defRPr>
            </a:pPr>
            <a:r>
              <a:t>楼栋覆盖评分</a:t>
            </a:r>
            <a:br/>
            <a:r>
              <a:t>设备状态上报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832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B2545"/>
                </a:solidFill>
              </a:defRPr>
            </a:pPr>
            <a:r>
              <a:t>• 异常类型: 弱信号覆盖 | AP离线 | 信道干扰 | 容量拥塞 | 漫游异常</a:t>
            </a:r>
          </a:p>
          <a:p>
            <a:pPr>
              <a:spcAft>
                <a:spcPts val="800"/>
              </a:spcAft>
              <a:defRPr sz="1400">
                <a:solidFill>
                  <a:srgbClr val="0B2545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0B2545"/>
                </a:solidFill>
              </a:defRPr>
            </a:pPr>
            <a:r>
              <a:t>• 业务价值: 减少网络故障排查时间 60% | 提升用户满意度 | 数据驱动运维决策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B2545"/>
                </a:solidFill>
              </a:defRPr>
            </a:pPr>
            <a:r>
              <a:t>3. UJIIndoorLoc 数据集说明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55555"/>
                </a:solidFill>
              </a:defRPr>
            </a:pPr>
            <a:r>
              <a:t>公开 Wi-Fi 指纹数据集 · RSSI / 楼栋 / 楼层 / 坐标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737360"/>
          <a:ext cx="105156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3A5F"/>
                          </a:solidFill>
                        </a:defRPr>
                      </a:pPr>
                      <a:r>
                        <a:t>字段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3A5F"/>
                          </a:solidFill>
                        </a:defRPr>
                      </a:pPr>
                      <a:r>
                        <a:t>含义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3A5F"/>
                          </a:solidFill>
                        </a:defRPr>
                      </a:pPr>
                      <a:r>
                        <a:t>示例值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B2545"/>
                          </a:solidFill>
                        </a:defRPr>
                      </a:pPr>
                      <a:r>
                        <a:t>WAP001 ~ WAP520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B2545"/>
                          </a:solidFill>
                        </a:defRPr>
                      </a:pPr>
                      <a:r>
                        <a:t>520个AP的RSSI信号强度 (dBm)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B2545"/>
                          </a:solidFill>
                        </a:defRPr>
                      </a:pPr>
                      <a:r>
                        <a:t>-65, 100(无信号)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B2545"/>
                          </a:solidFill>
                        </a:defRPr>
                      </a:pPr>
                      <a:r>
                        <a:t>BUILDINGID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B2545"/>
                          </a:solidFill>
                        </a:defRPr>
                      </a:pPr>
                      <a:r>
                        <a:t>楼栋编号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B2545"/>
                          </a:solidFill>
                        </a:defRPr>
                      </a:pPr>
                      <a:r>
                        <a:t>0, 1, 2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B2545"/>
                          </a:solidFill>
                        </a:defRPr>
                      </a:pPr>
                      <a:r>
                        <a:t>FLOOR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B2545"/>
                          </a:solidFill>
                        </a:defRPr>
                      </a:pPr>
                      <a:r>
                        <a:t>楼层编号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B2545"/>
                          </a:solidFill>
                        </a:defRPr>
                      </a:pPr>
                      <a:r>
                        <a:t>0, 1, 2, 3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B2545"/>
                          </a:solidFill>
                        </a:defRPr>
                      </a:pPr>
                      <a:r>
                        <a:t>LONGITUDE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B2545"/>
                          </a:solidFill>
                        </a:defRPr>
                      </a:pPr>
                      <a:r>
                        <a:t>经度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B2545"/>
                          </a:solidFill>
                        </a:defRPr>
                      </a:pPr>
                      <a:r>
                        <a:t>-7541.26 (UTM)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B2545"/>
                          </a:solidFill>
                        </a:defRPr>
                      </a:pPr>
                      <a:r>
                        <a:t>LATITUDE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B2545"/>
                          </a:solidFill>
                        </a:defRPr>
                      </a:pPr>
                      <a:r>
                        <a:t>纬度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B2545"/>
                          </a:solidFill>
                        </a:defRPr>
                      </a:pPr>
                      <a:r>
                        <a:t>4864920.77 (UTM)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B2545"/>
                          </a:solidFill>
                        </a:defRPr>
                      </a:pPr>
                      <a:r>
                        <a:t>SPACEID / RELATIVEPOSITION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B2545"/>
                          </a:solidFill>
                        </a:defRPr>
                      </a:pPr>
                      <a:r>
                        <a:t>空间ID / 相对位置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B2545"/>
                          </a:solidFill>
                        </a:defRPr>
                      </a:pPr>
                      <a:r>
                        <a:t>106 / 2 (室内)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B2545"/>
                          </a:solidFill>
                        </a:defRPr>
                      </a:pPr>
                      <a:r>
                        <a:t>TIMESTAMP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B2545"/>
                          </a:solidFill>
                        </a:defRPr>
                      </a:pPr>
                      <a:r>
                        <a:t>采集时间戳 (Unix)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B2545"/>
                          </a:solidFill>
                        </a:defRPr>
                      </a:pPr>
                      <a:r>
                        <a:t>1371713733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7548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0B2545"/>
                </a:solidFill>
              </a:defRPr>
            </a:pPr>
            <a:r>
              <a:t>• 总数据量: 19,937 采样点 × 529 列  • 数据来源: https://archive.ics.uci.edu/dataset/310/ujiindoorloc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B2545"/>
                </a:solidFill>
              </a:defRPr>
            </a:pPr>
            <a:r>
              <a:t>4. 弱信号检测规则与实验结果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55555"/>
                </a:solidFill>
              </a:defRPr>
            </a:pPr>
            <a:r>
              <a:t>阈值法 + 规则引擎 → 378个弱覆盖告警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737360"/>
          <a:ext cx="96012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3A5F"/>
                          </a:solidFill>
                        </a:defRPr>
                      </a:pPr>
                      <a:r>
                        <a:t>等级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3A5F"/>
                          </a:solidFill>
                        </a:defRPr>
                      </a:pPr>
                      <a:r>
                        <a:t>条件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3A5F"/>
                          </a:solidFill>
                        </a:defRPr>
                      </a:pPr>
                      <a:r>
                        <a:t>颜色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3A5F"/>
                          </a:solidFill>
                        </a:defRPr>
                      </a:pPr>
                      <a:r>
                        <a:t>数量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3A5F"/>
                          </a:solidFill>
                        </a:defRPr>
                      </a:pPr>
                      <a:r>
                        <a:t>占比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B2545"/>
                          </a:solidFill>
                        </a:defRPr>
                      </a:pPr>
                      <a:r>
                        <a:t>Good (优秀)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B2545"/>
                          </a:solidFill>
                        </a:defRPr>
                      </a:pPr>
                      <a:r>
                        <a:t>max_rssi &gt;= -65 dBm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B2545"/>
                          </a:solidFill>
                        </a:defRPr>
                      </a:pPr>
                      <a:r>
                        <a:t>🟢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B2545"/>
                          </a:solidFill>
                        </a:defRPr>
                      </a:pPr>
                      <a:r>
                        <a:t>15,622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B2545"/>
                          </a:solidFill>
                        </a:defRPr>
                      </a:pPr>
                      <a:r>
                        <a:t>78.4%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B2545"/>
                          </a:solidFill>
                        </a:defRPr>
                      </a:pPr>
                      <a:r>
                        <a:t>Medium (中等)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B2545"/>
                          </a:solidFill>
                        </a:defRPr>
                      </a:pPr>
                      <a:r>
                        <a:t>-85 &lt;= max_rssi &lt; -65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B2545"/>
                          </a:solidFill>
                        </a:defRPr>
                      </a:pPr>
                      <a:r>
                        <a:t>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B2545"/>
                          </a:solidFill>
                        </a:defRPr>
                      </a:pPr>
                      <a:r>
                        <a:t>3,945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B2545"/>
                          </a:solidFill>
                        </a:defRPr>
                      </a:pPr>
                      <a:r>
                        <a:t>19.8%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B2545"/>
                          </a:solidFill>
                        </a:defRPr>
                      </a:pPr>
                      <a:r>
                        <a:t>Poor (差)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B2545"/>
                          </a:solidFill>
                        </a:defRPr>
                      </a:pPr>
                      <a:r>
                        <a:t>max_rssi &lt; -85 dBm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B2545"/>
                          </a:solidFill>
                        </a:defRPr>
                      </a:pPr>
                      <a:r>
                        <a:t>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B2545"/>
                          </a:solidFill>
                        </a:defRPr>
                      </a:pPr>
                      <a:r>
                        <a:t>294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B2545"/>
                          </a:solidFill>
                        </a:defRPr>
                      </a:pPr>
                      <a:r>
                        <a:t>1.5%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B2545"/>
                          </a:solidFill>
                        </a:defRPr>
                      </a:pPr>
                      <a:r>
                        <a:t>None (无信号)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B2545"/>
                          </a:solidFill>
                        </a:defRPr>
                      </a:pPr>
                      <a:r>
                        <a:t>无可检测信号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B2545"/>
                          </a:solidFill>
                        </a:defRPr>
                      </a:pPr>
                      <a:r>
                        <a:t>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B2545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B2545"/>
                          </a:solidFill>
                        </a:defRPr>
                      </a:pPr>
                      <a:r>
                        <a:t>0.4%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3657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0B2545"/>
                </a:solidFill>
              </a:defRPr>
            </a:pPr>
            <a:r>
              <a:t>异常检测规则:</a:t>
            </a:r>
          </a:p>
          <a:p>
            <a:pPr>
              <a:spcAft>
                <a:spcPts val="800"/>
              </a:spcAft>
              <a:defRPr sz="1300">
                <a:solidFill>
                  <a:srgbClr val="0B2545"/>
                </a:solidFill>
              </a:defRPr>
            </a:pPr>
            <a:r>
              <a:t>1. max_rssi &lt; -85 dBm → 弱信号告警</a:t>
            </a:r>
          </a:p>
          <a:p>
            <a:pPr>
              <a:spcAft>
                <a:spcPts val="800"/>
              </a:spcAft>
              <a:defRPr sz="1300">
                <a:solidFill>
                  <a:srgbClr val="0B2545"/>
                </a:solidFill>
              </a:defRPr>
            </a:pPr>
            <a:r>
              <a:t>2. visible_ap_count &lt; 3 → AP 离线/故障告警</a:t>
            </a:r>
          </a:p>
          <a:p>
            <a:pPr>
              <a:spcAft>
                <a:spcPts val="800"/>
              </a:spcAft>
              <a:defRPr sz="1300">
                <a:solidFill>
                  <a:srgbClr val="0B2545"/>
                </a:solidFill>
              </a:defRPr>
            </a:pPr>
            <a:r>
              <a:t>3. 同时满足 → 高风险"</a:t>
            </a:r>
          </a:p>
          <a:p>
            <a:pPr>
              <a:spcAft>
                <a:spcPts val="800"/>
              </a:spcAft>
              <a:defRPr sz="1300">
                <a:solidFill>
                  <a:srgbClr val="0B2545"/>
                </a:solidFill>
              </a:defRPr>
            </a:pPr>
            <a:r>
              <a:t>4. 结果: 378个弱覆盖告警点 (1.9%) · 最差楼层: Building 1 Floor 3 (21.2%弱覆盖)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B2545"/>
                </a:solidFill>
              </a:defRPr>
            </a:pPr>
            <a:r>
              <a:t>5. LLM Prompt 设计与诊断输出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55555"/>
                </a:solidFill>
              </a:defRPr>
            </a:pPr>
            <a:r>
              <a:t>RSSI 证据 + 空间上下文 + 知识库 → 结构化诊断 JSON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737360"/>
          <a:ext cx="105156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3A5F"/>
                          </a:solidFill>
                        </a:defRPr>
                      </a:pPr>
                      <a:r>
                        <a:t>诊断字段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3A5F"/>
                          </a:solidFill>
                        </a:defRPr>
                      </a:pPr>
                      <a:r>
                        <a:t>说明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3A5F"/>
                          </a:solidFill>
                        </a:defRPr>
                      </a:pPr>
                      <a:r>
                        <a:t>示例输出</a:t>
                      </a:r>
                    </a:p>
                  </a:txBody>
                  <a:tcPr anchor="ctr">
                    <a:solidFill>
                      <a:srgbClr val="E8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B2545"/>
                          </a:solidFill>
                        </a:defRPr>
                      </a:pPr>
                      <a:r>
                        <a:t>affected_area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B2545"/>
                          </a:solidFill>
                        </a:defRPr>
                      </a:pPr>
                      <a:r>
                        <a:t>受影响区域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B2545"/>
                          </a:solidFill>
                        </a:defRPr>
                      </a:pPr>
                      <a:r>
                        <a:t>Building 1, Floor 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B2545"/>
                          </a:solidFill>
                        </a:defRPr>
                      </a:pPr>
                      <a:r>
                        <a:t>risk_level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B2545"/>
                          </a:solidFill>
                        </a:defRPr>
                      </a:pPr>
                      <a:r>
                        <a:t>风险等级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B2545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B2545"/>
                          </a:solidFill>
                        </a:defRPr>
                      </a:pPr>
                      <a:r>
                        <a:t>possible_cause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B2545"/>
                          </a:solidFill>
                        </a:defRPr>
                      </a:pPr>
                      <a:r>
                        <a:t>最可能原因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B2545"/>
                          </a:solidFill>
                        </a:defRPr>
                      </a:pPr>
                      <a:r>
                        <a:t>AP 离线或故障（可见AP数异常少）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B2545"/>
                          </a:solidFill>
                        </a:defRPr>
                      </a:pPr>
                      <a:r>
                        <a:t>evidence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B2545"/>
                          </a:solidFill>
                        </a:defRPr>
                      </a:pPr>
                      <a:r>
                        <a:t>RSSI 证据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B2545"/>
                          </a:solidFill>
                        </a:defRPr>
                      </a:pPr>
                      <a:r>
                        <a:t>max_rssi=-89dBm, visible_ap_count=2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B2545"/>
                          </a:solidFill>
                        </a:defRPr>
                      </a:pPr>
                      <a:r>
                        <a:t>next_steps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B2545"/>
                          </a:solidFill>
                        </a:defRPr>
                      </a:pPr>
                      <a:r>
                        <a:t>排查步骤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B2545"/>
                          </a:solidFill>
                        </a:defRPr>
                      </a:pPr>
                      <a:r>
                        <a:t>检查AP在线状态→PoE供电→现场确认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B2545"/>
                          </a:solidFill>
                        </a:defRPr>
                      </a:pPr>
                      <a:r>
                        <a:t>user_message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B2545"/>
                          </a:solidFill>
                        </a:defRPr>
                      </a:pPr>
                      <a:r>
                        <a:t>面向用户说明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B2545"/>
                          </a:solidFill>
                        </a:defRPr>
                      </a:pPr>
                      <a:r>
                        <a:t>您所在区域WiFi暂时不可用，请前往邻近区域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B2545"/>
                          </a:solidFill>
                        </a:defRPr>
                      </a:pPr>
                      <a:r>
                        <a:t>uncertainty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B2545"/>
                          </a:solidFill>
                        </a:defRPr>
                      </a:pPr>
                      <a:r>
                        <a:t>不确定性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B2545"/>
                          </a:solidFill>
                        </a:defRPr>
                      </a:pPr>
                      <a:r>
                        <a:t>缺少AP在线状态和实时流量数据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9377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0B2545"/>
                </a:solidFill>
              </a:defRPr>
            </a:pPr>
            <a:r>
              <a:t>WiFi 排障知识库: AP功率配置 | 物理遮挡 | 信道干扰 | AP离线/故障 | 用户密度 | 漫游问题 | 终端差异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B2545"/>
                </a:solidFill>
              </a:defRPr>
            </a:pPr>
            <a:r>
              <a:t>6. 前端 Demo 与复现步骤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55555"/>
                </a:solidFill>
              </a:defRPr>
            </a:pPr>
            <a:r>
              <a:t>Streamlit + Plotly 交互式可视化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0B2545"/>
                </a:solidFill>
              </a:defRPr>
            </a:pPr>
            <a:r>
              <a:t>前端功能:</a:t>
            </a:r>
          </a:p>
          <a:p>
            <a:pPr>
              <a:spcAft>
                <a:spcPts val="800"/>
              </a:spcAft>
              <a:defRPr sz="1400">
                <a:solidFill>
                  <a:srgbClr val="0B2545"/>
                </a:solidFill>
              </a:defRPr>
            </a:pPr>
            <a:r>
              <a:t>• 楼栋/楼层下拉筛选 · WiFi质量热力图 (good/medium/poor 颜色标识)</a:t>
            </a:r>
          </a:p>
          <a:p>
            <a:pPr>
              <a:spcAft>
                <a:spcPts val="800"/>
              </a:spcAft>
              <a:defRPr sz="1400">
                <a:solidFill>
                  <a:srgbClr val="0B2545"/>
                </a:solidFill>
              </a:defRPr>
            </a:pPr>
            <a:r>
              <a:t>• 弱覆盖告警表格 · AI 诊断卡片 (风险等级/原因/排查步骤/用户说明)</a:t>
            </a:r>
          </a:p>
          <a:p>
            <a:pPr>
              <a:spcAft>
                <a:spcPts val="800"/>
              </a:spcAft>
              <a:defRPr sz="1400">
                <a:solidFill>
                  <a:srgbClr val="0B2545"/>
                </a:solidFill>
              </a:defRPr>
            </a:pPr>
            <a:r>
              <a:t>• 诊断摘要报告 · JSON 下载导出</a:t>
            </a:r>
          </a:p>
          <a:p>
            <a:pPr>
              <a:spcAft>
                <a:spcPts val="800"/>
              </a:spcAft>
              <a:defRPr sz="1400">
                <a:solidFill>
                  <a:srgbClr val="0B2545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0B2545"/>
                </a:solidFill>
              </a:defRPr>
            </a:pPr>
            <a:r>
              <a:t>复现步骤:</a:t>
            </a:r>
          </a:p>
          <a:p>
            <a:pPr>
              <a:spcAft>
                <a:spcPts val="800"/>
              </a:spcAft>
              <a:defRPr sz="1400">
                <a:solidFill>
                  <a:srgbClr val="0B2545"/>
                </a:solidFill>
              </a:defRPr>
            </a:pPr>
            <a:r>
              <a:t>1. pip install pandas numpy plotly streamlit</a:t>
            </a:r>
          </a:p>
          <a:p>
            <a:pPr>
              <a:spcAft>
                <a:spcPts val="800"/>
              </a:spcAft>
              <a:defRPr sz="1400">
                <a:solidFill>
                  <a:srgbClr val="0B2545"/>
                </a:solidFill>
              </a:defRPr>
            </a:pPr>
            <a:r>
              <a:t>2. python data_processor.py (数据加载 → 质量评估 → 异常检测)</a:t>
            </a:r>
          </a:p>
          <a:p>
            <a:pPr>
              <a:spcAft>
                <a:spcPts val="800"/>
              </a:spcAft>
              <a:defRPr sz="1400">
                <a:solidFill>
                  <a:srgbClr val="0B2545"/>
                </a:solidFill>
              </a:defRPr>
            </a:pPr>
            <a:r>
              <a:t>3. streamlit run app.py</a:t>
            </a:r>
          </a:p>
          <a:p>
            <a:pPr>
              <a:spcAft>
                <a:spcPts val="800"/>
              </a:spcAft>
              <a:defRPr sz="1400">
                <a:solidFill>
                  <a:srgbClr val="0B2545"/>
                </a:solidFill>
              </a:defRPr>
            </a:pPr>
            <a:r>
              <a:t>4. 浏览器打开 http://localhost:8501</a:t>
            </a:r>
          </a:p>
          <a:p>
            <a:pPr>
              <a:spcAft>
                <a:spcPts val="800"/>
              </a:spcAft>
              <a:defRPr sz="1400">
                <a:solidFill>
                  <a:srgbClr val="0B2545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0B2545"/>
                </a:solidFill>
              </a:defRPr>
            </a:pPr>
            <a:r>
              <a:t>项目已开源 GitHub: https://github.com/xxx/wifi-llm-ops</a:t>
            </a:r>
          </a:p>
          <a:p>
            <a:pPr>
              <a:spcAft>
                <a:spcPts val="800"/>
              </a:spcAft>
              <a:defRPr sz="1400">
                <a:solidFill>
                  <a:srgbClr val="0B2545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400">
                <a:solidFill>
                  <a:srgbClr val="0B2545"/>
                </a:solidFill>
              </a:defRPr>
            </a:pPr>
            <a:r>
              <a:t>技术栈: Python | pandas | Plotly | Streamlit | OpenAI API (可选模拟模式)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9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B2545"/>
                </a:solidFill>
              </a:defRPr>
            </a:pPr>
            <a:r>
              <a:t>7. 局限与企业化改进方向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555555"/>
                </a:solidFill>
              </a:defRPr>
            </a:pPr>
            <a:r>
              <a:t>从原型到生产的路径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B2545"/>
                </a:solidFill>
              </a:defRPr>
            </a:pPr>
            <a:r>
              <a:t>⚠️ 当前局限</a:t>
            </a:r>
          </a:p>
          <a:p>
            <a:pPr>
              <a:defRPr sz="1200">
                <a:solidFill>
                  <a:srgbClr val="0B2545"/>
                </a:solidFill>
              </a:defRPr>
            </a:pPr>
            <a:endParaRPr/>
          </a:p>
          <a:p>
            <a:pPr>
              <a:defRPr sz="1200">
                <a:solidFill>
                  <a:srgbClr val="0B2545"/>
                </a:solidFill>
              </a:defRPr>
            </a:pPr>
            <a:r>
              <a:t>• 仅使用 RSSI 指纹数据，缺少 AP 实时状态</a:t>
            </a:r>
          </a:p>
          <a:p>
            <a:pPr>
              <a:defRPr sz="1200">
                <a:solidFill>
                  <a:srgbClr val="0B2545"/>
                </a:solidFill>
              </a:defRPr>
            </a:pPr>
            <a:r>
              <a:t>• 缺少用户吞吐量/丢包率等体验指标</a:t>
            </a:r>
          </a:p>
          <a:p>
            <a:pPr>
              <a:defRPr sz="1200">
                <a:solidFill>
                  <a:srgbClr val="0B2545"/>
                </a:solidFill>
              </a:defRPr>
            </a:pPr>
            <a:r>
              <a:t>• 知识库覆盖场景有限</a:t>
            </a:r>
          </a:p>
          <a:p>
            <a:pPr>
              <a:defRPr sz="1200">
                <a:solidFill>
                  <a:srgbClr val="0B2545"/>
                </a:solidFill>
              </a:defRPr>
            </a:pPr>
            <a:r>
              <a:t>• 未接入真实校园网络系统</a:t>
            </a:r>
          </a:p>
          <a:p>
            <a:pPr>
              <a:defRPr sz="1600" b="1">
                <a:solidFill>
                  <a:srgbClr val="0B2545"/>
                </a:solidFill>
              </a:defRPr>
            </a:pPr>
            <a:endParaRPr/>
          </a:p>
          <a:p>
            <a:pPr>
              <a:defRPr sz="1200">
                <a:solidFill>
                  <a:srgbClr val="0B2545"/>
                </a:solidFill>
              </a:defRPr>
            </a:pPr>
            <a:r>
              <a:t>🚀 改进方向</a:t>
            </a:r>
          </a:p>
          <a:p>
            <a:pPr>
              <a:defRPr sz="1200">
                <a:solidFill>
                  <a:srgbClr val="0B2545"/>
                </a:solidFill>
              </a:defRPr>
            </a:pPr>
            <a:endParaRPr/>
          </a:p>
          <a:p>
            <a:pPr>
              <a:defRPr sz="1200">
                <a:solidFill>
                  <a:srgbClr val="0B2545"/>
                </a:solidFill>
              </a:defRPr>
            </a:pPr>
            <a:r>
              <a:t>• 接入 SNMP/gNMI 采集 AP 在线状态/流量</a:t>
            </a:r>
          </a:p>
          <a:p>
            <a:pPr>
              <a:defRPr sz="1200">
                <a:solidFill>
                  <a:srgbClr val="0B2545"/>
                </a:solidFill>
              </a:defRPr>
            </a:pPr>
            <a:r>
              <a:t>• 集成 RADIUS/DHCP 日志分析认证问题</a:t>
            </a:r>
          </a:p>
          <a:p>
            <a:pPr>
              <a:defRPr sz="1200">
                <a:solidFill>
                  <a:srgbClr val="0B2545"/>
                </a:solidFill>
              </a:defRPr>
            </a:pPr>
            <a:r>
              <a:t>• 丰富知识库场景 (IPv6/物联网/VR/AR)</a:t>
            </a:r>
          </a:p>
          <a:p>
            <a:pPr>
              <a:defRPr sz="1200">
                <a:solidFill>
                  <a:srgbClr val="0B2545"/>
                </a:solidFill>
              </a:defRPr>
            </a:pPr>
            <a:r>
              <a:t>• 引入 RAG + 历史工单向量库优化诊断</a:t>
            </a:r>
          </a:p>
          <a:p>
            <a:pPr>
              <a:defRPr sz="1200">
                <a:solidFill>
                  <a:srgbClr val="0B2545"/>
                </a:solidFill>
              </a:defRPr>
            </a:pPr>
            <a:r>
              <a:t>• 对接校园一网通办 / 企业微信告警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7373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B2545"/>
                </a:solidFill>
              </a:defRPr>
            </a:pPr>
            <a:r>
              <a:t>📚 参考来源</a:t>
            </a:r>
          </a:p>
          <a:p>
            <a:pPr>
              <a:defRPr sz="1100">
                <a:solidFill>
                  <a:srgbClr val="0B2545"/>
                </a:solidFill>
              </a:defRPr>
            </a:pPr>
            <a:endParaRPr/>
          </a:p>
          <a:p>
            <a:pPr>
              <a:defRPr sz="1100">
                <a:solidFill>
                  <a:srgbClr val="0B2545"/>
                </a:solidFill>
              </a:defRPr>
            </a:pPr>
            <a:r>
              <a:t>• HPE Marvis AI</a:t>
            </a:r>
          </a:p>
          <a:p>
            <a:pPr>
              <a:defRPr sz="1100">
                <a:solidFill>
                  <a:srgbClr val="0B2545"/>
                </a:solidFill>
              </a:defRPr>
            </a:pPr>
            <a:r>
              <a:t>  https://www.hpe.com/us/en/marvis-ai.html</a:t>
            </a:r>
          </a:p>
          <a:p>
            <a:pPr>
              <a:defRPr sz="1100">
                <a:solidFill>
                  <a:srgbClr val="0B2545"/>
                </a:solidFill>
              </a:defRPr>
            </a:pPr>
            <a:endParaRPr/>
          </a:p>
          <a:p>
            <a:pPr>
              <a:defRPr sz="1100">
                <a:solidFill>
                  <a:srgbClr val="0B2545"/>
                </a:solidFill>
              </a:defRPr>
            </a:pPr>
            <a:r>
              <a:t>• Juniper Mist AI</a:t>
            </a:r>
          </a:p>
          <a:p>
            <a:pPr>
              <a:defRPr sz="1100">
                <a:solidFill>
                  <a:srgbClr val="0B2545"/>
                </a:solidFill>
              </a:defRPr>
            </a:pPr>
            <a:r>
              <a:t>  https://www.juniper.net/us/en/products/mist-ai.html</a:t>
            </a:r>
          </a:p>
          <a:p>
            <a:pPr>
              <a:defRPr sz="1100">
                <a:solidFill>
                  <a:srgbClr val="0B2545"/>
                </a:solidFill>
              </a:defRPr>
            </a:pPr>
            <a:endParaRPr/>
          </a:p>
          <a:p>
            <a:pPr>
              <a:defRPr sz="1100">
                <a:solidFill>
                  <a:srgbClr val="0B2545"/>
                </a:solidFill>
              </a:defRPr>
            </a:pPr>
            <a:r>
              <a:t>• UJIIndoorLoc Dataset</a:t>
            </a:r>
          </a:p>
          <a:p>
            <a:pPr>
              <a:defRPr sz="1100">
                <a:solidFill>
                  <a:srgbClr val="0B2545"/>
                </a:solidFill>
              </a:defRPr>
            </a:pPr>
            <a:r>
              <a:t>  https://archive.ics.uci.edu/dataset/310/ujiindoorloc</a:t>
            </a:r>
          </a:p>
          <a:p>
            <a:pPr>
              <a:defRPr sz="1100">
                <a:solidFill>
                  <a:srgbClr val="0B2545"/>
                </a:solidFill>
              </a:defRPr>
            </a:pPr>
            <a:endParaRPr/>
          </a:p>
          <a:p>
            <a:pPr>
              <a:defRPr sz="1100">
                <a:solidFill>
                  <a:srgbClr val="0B2545"/>
                </a:solidFill>
              </a:defRPr>
            </a:pPr>
            <a:endParaRPr/>
          </a:p>
          <a:p>
            <a:pPr>
              <a:defRPr sz="1400" b="1">
                <a:solidFill>
                  <a:srgbClr val="0B2545"/>
                </a:solidFill>
              </a:defRPr>
            </a:pPr>
            <a:r>
              <a:t>🙏 致谢</a:t>
            </a:r>
          </a:p>
          <a:p>
            <a:pPr>
              <a:defRPr sz="1100">
                <a:solidFill>
                  <a:srgbClr val="0B2545"/>
                </a:solidFill>
              </a:defRPr>
            </a:pPr>
            <a:endParaRPr/>
          </a:p>
          <a:p>
            <a:pPr>
              <a:defRPr sz="1100">
                <a:solidFill>
                  <a:srgbClr val="0B2545"/>
                </a:solidFill>
              </a:defRPr>
            </a:pPr>
            <a:r>
              <a:t>感谢 FDE 培训导师和团队成员</a:t>
            </a:r>
          </a:p>
          <a:p>
            <a:pPr>
              <a:defRPr sz="1100">
                <a:solidFill>
                  <a:srgbClr val="0B2545"/>
                </a:solidFill>
              </a:defRPr>
            </a:pPr>
            <a:r>
              <a:t>本项目仅供教学使用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731</Words>
  <Application>Microsoft Office PowerPoint</Application>
  <PresentationFormat>宽屏</PresentationFormat>
  <Paragraphs>162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宋体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邓冠初</cp:lastModifiedBy>
  <cp:revision>2</cp:revision>
  <dcterms:created xsi:type="dcterms:W3CDTF">2013-01-27T09:14:16Z</dcterms:created>
  <dcterms:modified xsi:type="dcterms:W3CDTF">2026-06-17T09:05:54Z</dcterms:modified>
  <cp:category/>
</cp:coreProperties>
</file>